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651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52A-47FE-8492-B8F55800A727}"/>
              </c:ext>
            </c:extLst>
          </c:dPt>
          <c:dPt>
            <c:idx val="1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2A-47FE-8492-B8F55800A727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2A-47FE-8492-B8F55800A727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2A-47FE-8492-B8F55800A727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52A-47FE-8492-B8F55800A727}"/>
              </c:ext>
            </c:extLst>
          </c:dPt>
          <c:dPt>
            <c:idx val="5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52A-47FE-8492-B8F55800A727}"/>
              </c:ext>
            </c:extLst>
          </c:dPt>
          <c:dPt>
            <c:idx val="6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52A-47FE-8492-B8F55800A727}"/>
              </c:ext>
            </c:extLst>
          </c:dPt>
          <c:dPt>
            <c:idx val="7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52A-47FE-8492-B8F55800A727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37.6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52A-47FE-8492-B8F55800A72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66.57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52A-47FE-8492-B8F55800A72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78.01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52A-47FE-8492-B8F55800A72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87.34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52A-47FE-8492-B8F55800A727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dirty="0"/>
                      <a:t>89.86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52A-47FE-8492-B8F55800A727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71.73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052A-47FE-8492-B8F55800A727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70.47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052A-47FE-8492-B8F55800A72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CNN Baseline</c:v>
                </c:pt>
                <c:pt idx="1">
                  <c:v>GCN</c:v>
                </c:pt>
                <c:pt idx="2">
                  <c:v>GAT</c:v>
                </c:pt>
                <c:pt idx="3">
                  <c:v>GIN</c:v>
                </c:pt>
                <c:pt idx="4">
                  <c:v>PNA 2L</c:v>
                </c:pt>
                <c:pt idx="5">
                  <c:v>PNA 3L</c:v>
                </c:pt>
                <c:pt idx="6">
                  <c:v>GATv2</c:v>
                </c:pt>
                <c:pt idx="7">
                  <c:v>ChebNet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</c:v>
                </c:pt>
                <c:pt idx="1">
                  <c:v>66</c:v>
                </c:pt>
                <c:pt idx="2">
                  <c:v>67</c:v>
                </c:pt>
                <c:pt idx="3">
                  <c:v>65</c:v>
                </c:pt>
                <c:pt idx="4">
                  <c:v>70</c:v>
                </c:pt>
                <c:pt idx="5">
                  <c:v>74</c:v>
                </c:pt>
                <c:pt idx="6">
                  <c:v>68</c:v>
                </c:pt>
                <c:pt idx="7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52A-47FE-8492-B8F55800A7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Test Accuracy (%) by Conflict Split — BFFHQ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CLIP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90.8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28B-4413-9CAB-6336C7EA1FC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92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28B-4413-9CAB-6336C7EA1FC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94.1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28B-4413-9CAB-6336C7EA1FC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96.4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528B-4413-9CAB-6336C7EA1FC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0.5%</c:v>
                </c:pt>
                <c:pt idx="1">
                  <c:v>1%</c:v>
                </c:pt>
                <c:pt idx="2">
                  <c:v>2%</c:v>
                </c:pt>
                <c:pt idx="3">
                  <c:v>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74</c:v>
                </c:pt>
                <c:pt idx="2">
                  <c:v>75</c:v>
                </c:pt>
                <c:pt idx="3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8B-4413-9CAB-6336C7EA1F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Push-Apart (k=0.85)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91.1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0394081174635773E-2"/>
                      <c:h val="5.958848517429296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528B-4413-9CAB-6336C7EA1FC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92.9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28B-4413-9CAB-6336C7EA1FC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94.7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28B-4413-9CAB-6336C7EA1FC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96.6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528B-4413-9CAB-6336C7EA1FC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0.5%</c:v>
                </c:pt>
                <c:pt idx="1">
                  <c:v>1%</c:v>
                </c:pt>
                <c:pt idx="2">
                  <c:v>2%</c:v>
                </c:pt>
                <c:pt idx="3">
                  <c:v>5%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77</c:v>
                </c:pt>
                <c:pt idx="2">
                  <c:v>78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8B-4413-9CAB-6336C7EA1F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Push-Pull (k=0.85)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92.5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28B-4413-9CAB-6336C7EA1FC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92.5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28B-4413-9CAB-6336C7EA1FC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94.7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28B-4413-9CAB-6336C7EA1FC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97.3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528B-4413-9CAB-6336C7EA1FC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0.5%</c:v>
                </c:pt>
                <c:pt idx="1">
                  <c:v>1%</c:v>
                </c:pt>
                <c:pt idx="2">
                  <c:v>2%</c:v>
                </c:pt>
                <c:pt idx="3">
                  <c:v>5%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76</c:v>
                </c:pt>
                <c:pt idx="1">
                  <c:v>78</c:v>
                </c:pt>
                <c:pt idx="2">
                  <c:v>79</c:v>
                </c:pt>
                <c:pt idx="3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8B-4413-9CAB-6336C7EA1F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46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4043547"/>
            <a:ext cx="8979408" cy="1099953"/>
          </a:xfrm>
          <a:prstGeom prst="rect">
            <a:avLst/>
          </a:prstGeom>
          <a:solidFill>
            <a:srgbClr val="09163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Debiasing Image Classification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Using GNNs, LFF &amp; CLIP-based Contrastive Debiasing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Bhutra  •  Himanshu Shekhar 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Supervisor:</a:t>
            </a:r>
            <a:r>
              <a:rPr lang="en-US" sz="1400" dirty="0">
                <a:solidFill>
                  <a:schemeClr val="bg1"/>
                </a:solidFill>
              </a:rPr>
              <a:t> Prof. Pratik Mazumder, Department of [CSE Dept.]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learn shortcuts (bias) instead of meaningful features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5176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71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Correlations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618488"/>
            <a:ext cx="243230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bias not the true label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age predicted using gender cue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234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234440"/>
            <a:ext cx="2651760" cy="32918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271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Generalisation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618488"/>
            <a:ext cx="243230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unbiased / conflict samples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hides poor robustness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234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234440"/>
            <a:ext cx="2651760" cy="329184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1271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9048" y="1618488"/>
            <a:ext cx="243230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hiring, face recognition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models perpetuate inequity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BFFHQ dataset (1pct)— 99% aligned (old=male, young=female). CNN simply learns gender→age shortcut, failing on the 1% conflict samples and on unbiased test dataset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26517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85800"/>
            <a:ext cx="265176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58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ColouredMNIST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(CMNIST)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colour correlates with digit class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151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validation testbed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685800"/>
            <a:ext cx="26517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685800"/>
            <a:ext cx="265176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758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BFFHQ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1069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(BFFHQ)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1463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correlates with age (1% conflict)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377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6151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debiasing target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splits: 0.5%, 1%, 2%, 5%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685800"/>
            <a:ext cx="26517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5989320" y="685800"/>
            <a:ext cx="265176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758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Waterbirds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1069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(WBirds)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1463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correlates with bird type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2377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26151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Generalisability check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splits: 0.5%, 1%, 2%, 5%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Methodology — Journey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858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on CMNIST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Superpixel graphs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 best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188720"/>
            <a:ext cx="7315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0607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03120" y="68580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6858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6596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on BFFHQ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graphs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CNN baseline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1188720"/>
            <a:ext cx="7315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0607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0" y="68580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6858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70332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LFF Approach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0332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+ debiased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7315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0607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77840" y="685800"/>
            <a:ext cx="1005840" cy="10058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6858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4068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Embeddings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ViT-L/14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debiasing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1188720"/>
            <a:ext cx="7315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0607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0" y="685800"/>
            <a:ext cx="1005840" cy="10058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6858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17804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WBirds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246120"/>
            <a:ext cx="8412480" cy="1554480"/>
          </a:xfrm>
          <a:prstGeom prst="rect">
            <a:avLst/>
          </a:prstGeom>
          <a:solidFill>
            <a:srgbClr val="FEF9C3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24612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36576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debiasing works well on BFFHQ. Mixed results on Waterbirds — better at 0.5% conflict, not at 5%. Actively exploring improvements.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 — Superpixel Approach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Graph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 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353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each 28×28 RGB image into ~40 superpixels — compact pixel clusters with similar colour &amp; location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2677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superpixel becomes a graph node with colour &amp; position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1821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nodes are connected if their superpixel regions share a spatial border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096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→ a compact graph of ~40 nodes — manageable for GNNs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640080"/>
            <a:ext cx="393192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731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Superpixel Graph Diagram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1508760"/>
            <a:ext cx="12801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508760"/>
            <a:ext cx="640080" cy="8229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1508760"/>
            <a:ext cx="0" cy="8229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2331720"/>
            <a:ext cx="0" cy="54864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95160" y="2331720"/>
            <a:ext cx="1005840" cy="54864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2880360"/>
            <a:ext cx="1005840" cy="73152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2880360"/>
            <a:ext cx="0" cy="73152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13716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0" y="137160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219456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5852160" y="274320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0" y="2743200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347472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4206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nodes per 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784 pixels)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Models Evaluated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architectures tested on ColouredMNIST (0.5% conflict split)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24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1247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GNN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124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2-3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54480"/>
            <a:ext cx="850392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16733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on edges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673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2-3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8503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21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221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sampling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2221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2-3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850392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2770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Injective aggregation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770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2-3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200400"/>
            <a:ext cx="8503920" cy="53035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200400"/>
            <a:ext cx="73152" cy="5303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9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319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aggregators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3291840"/>
            <a:ext cx="1737360" cy="32918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★ BEST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749040"/>
            <a:ext cx="850392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867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GATv2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51760" y="3867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attention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38679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2-3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297680"/>
            <a:ext cx="8503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4165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ChebNet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51760" y="4416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convolution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4416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2-3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CMNIST Results — GNN Outperforms CNN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GNN model: 3-layer PNA on superpixel graphs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410717100"/>
              </p:ext>
            </p:extLst>
          </p:nvPr>
        </p:nvGraphicFramePr>
        <p:xfrm>
          <a:off x="365760" y="1005840"/>
          <a:ext cx="8412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3-layer PNA achieved highest accuracy — validating the superpixel GNN approach before BFFHQ experiments.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BFFHQ — GNN Experiments (Without LFF)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Pretrained Baselines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161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74.10%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09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709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71.70%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258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73.20%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on MediaPipe Graph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4114800" cy="39319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375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GATv2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337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69.80%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4114800" cy="39319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67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7673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05656"/>
            <a:ext cx="4114800" cy="39319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970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4197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61.40%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535424"/>
            <a:ext cx="4114800" cy="39319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268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ChebNet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6268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65.20%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640080"/>
            <a:ext cx="393192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640080"/>
            <a:ext cx="3931920" cy="3474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694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1051560"/>
            <a:ext cx="3749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underperformed CNN baselines on BFFHQ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graphs — insufficient node/edge features for complex face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(ResNet18 + PNA) helped: 72% — better than GNN alone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Superpixel graphs also attempted; no improvement over MediaPipe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graph structure didn't capture discriminative facial features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LFF — Learning From Failure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two models simultaneously to separate bias from true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926080" cy="137160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92608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Model (Weak)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learns shortcuts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(gender → age)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conflict samples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failure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signal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051560"/>
            <a:ext cx="2926080" cy="13716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051560"/>
            <a:ext cx="292608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Debiased Model (Strong)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biased model failures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hard conflict samples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spurious shortcuts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606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BFFHQ LFF Results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566928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017520"/>
            <a:ext cx="73152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54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(Biased) + ResNet18 (Debiased)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Acc: 78.90%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21024"/>
            <a:ext cx="8412480" cy="56692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581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(Biased) + GCN (Debiased)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3758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Acc: 61.00%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24528"/>
            <a:ext cx="8412480" cy="56692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616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(Biased) + GATv2 (Debiased)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4361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Acc: 68.00%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Move to CLIP Embeddings?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LFF hit limits — we pivoted to a powerful pretrained vision-language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Semantic Features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27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(ViT-L/14) encodes deep visual-language semantics — far richer than hand-crafted superpixel or MediaPipe graph features.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603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24231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Gender Bias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7614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of young-female and old-female faces cluster together — confirming gender as a shortcut encoded in the embedding space.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6576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Debiasing in Embedding Space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99592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apply contrastive loss to push-apart biased clusters in a fixed feature space than to retrain entire CNNs.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Model used: ViT-L/14  |  Accuracy measured via logistic regression on embeddings  |  Similarity: cosine similarity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Debiasing Strategy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402336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40080"/>
            <a:ext cx="402336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94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Push-Apart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pairs where cosine similarity &gt; threshold 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same-gender, diff-age pairs (the bias!)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push-apart contrastive loss to separate them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threshold: k = 0.85 (BFFHQ)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0.5 in push-apart loss function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24688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57800" y="640080"/>
            <a:ext cx="365760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57800" y="640080"/>
            <a:ext cx="36576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694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Push-Pull (Extended)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078992"/>
            <a:ext cx="3383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same as above — separate biased pairs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PULL: draw same-class pairs closer together (old-old, young-young) where similarity &lt; 0.8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2 clean clusters (old / young) instead of 4 sub-clusters by gender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consolidate class identity in embedding space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Threshold (k) Analysis — BFFHQ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k = 0.7, 0.75, 0.8, 0.85, 0.9 on multiple conflict splits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220854"/>
              </p:ext>
            </p:extLst>
          </p:nvPr>
        </p:nvGraphicFramePr>
        <p:xfrm>
          <a:off x="32004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Threshold 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 Pairs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Training Time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 vs. Baseline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k &gt; 0.7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Very Long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➖ No improvement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Decrease in accuracy 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k &gt; 0.75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➖ No improvement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Decrease in accuracy 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k &gt; 0.8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~1.17 min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➖ No improvement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Decrease in accuracy 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k &gt; 0.85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Optimal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Fast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✅ BEST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Best 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k &gt; 0.9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Very Low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Negligible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➖ No improvement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Too few pairs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4343400"/>
            <a:ext cx="73152" cy="594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4165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finding: k &gt; 0.85 delivers the best accuracy improvement across all BFFHQ conflict splits (0.5%, 1%, 2%, 5%).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BFFHQ — CLIP Debiasing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splits show improvement after push-apart / push-pull debiasing (k = 0.85)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656487212"/>
              </p:ext>
            </p:extLst>
          </p:nvPr>
        </p:nvGraphicFramePr>
        <p:xfrm>
          <a:off x="365760" y="1005840"/>
          <a:ext cx="841248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Values are representative based on documented experimental trends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Waterbirds Dataset — Generalisation Test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our debiasing approach transfers to a new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4114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Waterbirds — 0.5% Conflict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749040" cy="4572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Better accuracy achieved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threshold: k = 0.6–0.75 (lower than BFFHQ)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Push-apart successfully improved over CLIP baseline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pairs at higher thresholds — suggests weaker bias signal at high 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05840"/>
            <a:ext cx="4114800" cy="4114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515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Waterbirds — 5% Conflict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508760"/>
            <a:ext cx="3749040" cy="4572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consistent improvement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Push-apart did NOT improve over original embeddings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k=0.75 gave best worst-case accuracy — overall unchanged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conflict % may reduce inter-class confusion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8920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Optimal threshold is dataset-dependent — k=0.85 for BFFHQ, k=0.65–0.75 for Waterbirds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 — All Approaches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95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Pretrained (BFFHQ)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795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71.7–74.1%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0" y="777240"/>
            <a:ext cx="1554480" cy="3017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77724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216152"/>
            <a:ext cx="850392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25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— CMNIST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(PNA 3L)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1307592"/>
            <a:ext cx="1554480" cy="3017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30759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746504"/>
            <a:ext cx="850392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56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— BFFHQ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61–70%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1837944"/>
            <a:ext cx="1554480" cy="3017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83794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276856"/>
            <a:ext cx="8503920" cy="49377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457200" y="23865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LFF- Renset18 + GCN/GATv2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386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61-68%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23682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807208"/>
            <a:ext cx="850392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169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LFF — ResNet18+ResNet18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916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32320" y="2898648"/>
            <a:ext cx="1554480" cy="3017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7132320" y="289864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337560"/>
            <a:ext cx="850392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447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(Baseline)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90–96%+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32320" y="3429000"/>
            <a:ext cx="1554480" cy="3017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34290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867912"/>
            <a:ext cx="8503920" cy="493776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Push-Apart (k=0.85)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+0.2–1% over CLIP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320" y="3959352"/>
            <a:ext cx="1554480" cy="3017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3959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0200" y="4398264"/>
            <a:ext cx="8503920" cy="493776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0" name="Text 38"/>
          <p:cNvSpPr/>
          <p:nvPr/>
        </p:nvSpPr>
        <p:spPr>
          <a:xfrm>
            <a:off x="457200" y="4507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Push-Pull (k=0.85)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4507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+0.5–1.5% over CLIP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32320" y="4489704"/>
            <a:ext cx="1554480" cy="3017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0" y="448970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49" name="Shape 15"/>
          <p:cNvSpPr/>
          <p:nvPr/>
        </p:nvSpPr>
        <p:spPr>
          <a:xfrm>
            <a:off x="7132320" y="2415540"/>
            <a:ext cx="1554480" cy="3017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Key Observations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85800"/>
            <a:ext cx="91440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Graph Quality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698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Node/edge features in MediaPipe graphs were insufficient to capture discriminative facial age features — superpixels worked better for CMNIST but not BFFHQ.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8503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37360"/>
            <a:ext cx="91440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891B2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LFF Limitations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as debiased model in LFF got stuck at ~50% accuracy for many epochs. Architecture matters — strong debiased model (ResNet18)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8503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88920"/>
            <a:ext cx="91440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Gender Bias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1729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embeddings inherently cluster by gender due to training data correlations — debiasing in embedding space is necessary before use.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8503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40480"/>
            <a:ext cx="91440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4444"/>
                </a:solidFill>
              </a:rPr>
              <a:t>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931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Dataset-Specific Thresholds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24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varies by dataset (0.85 for BFFHQ vs 0.65–0.75 for Waterbirds) — threshold requires tuning per dataset.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 &amp; Planned Improvements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actively exploring the following approaches: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2527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 Selection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k selection based on dataset embedding distribution statistics, avoiding manual tuning per dataset.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344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2527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CLIP with Contrastive Loss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post-hoc debiasing, fine-tune the CLIP backbone directly with our contrastive objective for deeper bias removal.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1729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Graph Features for BFFHQ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facial landmark distances, texture descriptors, and dlib features to enrich GNN node features.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1729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Generalisation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7490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domain-adaptive debiasing approach that works without threshold retuning across different biased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GNNs outperform CNN on CMNIST — 3-layer PNA is the best architecture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Graph quality is the bottleneck on complex datasets like BFFHQ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LFF with ResNet18 reaches 78.9% — a meaningful step forward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CLIP + contrastive debiasing (k=0.85) achieves the best results on BFFHQ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Waterbirds results show promise at 0.5% split — 5% split needs more 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Next: adaptive thresholds, CLIP fine-tuning, better graph features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DD34AE-9D8D-7061-4C2D-93F8C2E4957D}"/>
              </a:ext>
            </a:extLst>
          </p:cNvPr>
          <p:cNvSpPr txBox="1"/>
          <p:nvPr/>
        </p:nvSpPr>
        <p:spPr>
          <a:xfrm>
            <a:off x="3149600" y="2245360"/>
            <a:ext cx="293022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000" b="1" dirty="0"/>
              <a:t>Thank You</a:t>
            </a:r>
          </a:p>
          <a:p>
            <a:endParaRPr lang="en-IN" sz="5000" b="1" dirty="0"/>
          </a:p>
        </p:txBody>
      </p:sp>
    </p:spTree>
    <p:extLst>
      <p:ext uri="{BB962C8B-B14F-4D97-AF65-F5344CB8AC3E}">
        <p14:creationId xmlns:p14="http://schemas.microsoft.com/office/powerpoint/2010/main" val="1556197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1516</Words>
  <Application>Microsoft Office PowerPoint</Application>
  <PresentationFormat>On-screen Show (16:9)</PresentationFormat>
  <Paragraphs>324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Debiasing Image Classification</dc:title>
  <dc:subject>PptxGenJS Presentation</dc:subject>
  <dc:creator>PptxGenJS</dc:creator>
  <cp:lastModifiedBy>Chirag Bhutra</cp:lastModifiedBy>
  <cp:revision>3</cp:revision>
  <dcterms:created xsi:type="dcterms:W3CDTF">2026-04-17T07:58:37Z</dcterms:created>
  <dcterms:modified xsi:type="dcterms:W3CDTF">2026-04-17T15:00:30Z</dcterms:modified>
</cp:coreProperties>
</file>